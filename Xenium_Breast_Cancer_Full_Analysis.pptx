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ec94df2534454b" /><Relationship Type="http://schemas.openxmlformats.org/officeDocument/2006/relationships/extended-properties" Target="/docProps/app.xml" Id="R863cce5e55644008" /><Relationship Type="http://schemas.openxmlformats.org/officeDocument/2006/relationships/officeDocument" Target="/ppt/presentation.xml" Id="R5e7805d990e54b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45731efbf74c26"/>
  </p:sldMasterIdLst>
  <p:notesMasterIdLst>
    <p:notesMasterId xmlns:r="http://schemas.openxmlformats.org/officeDocument/2006/relationships" r:id="Rb6a09fc3ec924891"/>
  </p:notesMasterIdLst>
  <p:sldIdLst>
    <p:sldId xmlns:r="http://schemas.openxmlformats.org/officeDocument/2006/relationships" id="256" r:id="Ra0e163034f3c4454"/>
    <p:sldId xmlns:r="http://schemas.openxmlformats.org/officeDocument/2006/relationships" id="257" r:id="R238c2a995f554df7"/>
    <p:sldId xmlns:r="http://schemas.openxmlformats.org/officeDocument/2006/relationships" id="258" r:id="Reab4a8495d9f48a8"/>
    <p:sldId xmlns:r="http://schemas.openxmlformats.org/officeDocument/2006/relationships" id="259" r:id="R2a834156b18b49e8"/>
    <p:sldId xmlns:r="http://schemas.openxmlformats.org/officeDocument/2006/relationships" id="260" r:id="R4fd9d3b701404778"/>
    <p:sldId xmlns:r="http://schemas.openxmlformats.org/officeDocument/2006/relationships" id="261" r:id="Ree002b16c3a7452c"/>
    <p:sldId xmlns:r="http://schemas.openxmlformats.org/officeDocument/2006/relationships" id="262" r:id="Rcd65a32f288e4bd8"/>
    <p:sldId xmlns:r="http://schemas.openxmlformats.org/officeDocument/2006/relationships" id="263" r:id="Rce0fd7038c2348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c97118bffa414b" /><Relationship Type="http://schemas.openxmlformats.org/officeDocument/2006/relationships/slideMaster" Target="/ppt/slideMasters/slideMaster1.xml" Id="R8945731efbf74c26" /><Relationship Type="http://schemas.openxmlformats.org/officeDocument/2006/relationships/notesMaster" Target="/ppt/notesMasters/notesMaster1.xml" Id="Rb6a09fc3ec924891" /><Relationship Type="http://schemas.openxmlformats.org/officeDocument/2006/relationships/presProps" Target="/ppt/presProps.xml" Id="R62754078257e4061" /><Relationship Type="http://schemas.openxmlformats.org/officeDocument/2006/relationships/tableStyles" Target="/ppt/tableStyles.xml" Id="R8ac3d81999544e1d" /><Relationship Type="http://schemas.openxmlformats.org/officeDocument/2006/relationships/slide" Target="/ppt/slides/slide1.xml" Id="Ra0e163034f3c4454" /><Relationship Type="http://schemas.openxmlformats.org/officeDocument/2006/relationships/slide" Target="/ppt/slides/slide2.xml" Id="R238c2a995f554df7" /><Relationship Type="http://schemas.openxmlformats.org/officeDocument/2006/relationships/slide" Target="/ppt/slides/slide3.xml" Id="Reab4a8495d9f48a8" /><Relationship Type="http://schemas.openxmlformats.org/officeDocument/2006/relationships/slide" Target="/ppt/slides/slide4.xml" Id="R2a834156b18b49e8" /><Relationship Type="http://schemas.openxmlformats.org/officeDocument/2006/relationships/slide" Target="/ppt/slides/slide5.xml" Id="R4fd9d3b701404778" /><Relationship Type="http://schemas.openxmlformats.org/officeDocument/2006/relationships/slide" Target="/ppt/slides/slide6.xml" Id="Ree002b16c3a7452c" /><Relationship Type="http://schemas.openxmlformats.org/officeDocument/2006/relationships/slide" Target="/ppt/slides/slide7.xml" Id="Rcd65a32f288e4bd8" /><Relationship Type="http://schemas.openxmlformats.org/officeDocument/2006/relationships/slide" Target="/ppt/slides/slide8.xml" Id="Rce0fd7038c2348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8ee924f4a643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5812486e83491b" /><Relationship Type="http://schemas.openxmlformats.org/officeDocument/2006/relationships/notesMaster" Target="/ppt/notesMasters/notesMaster1.xml" Id="R799305c67dd745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bf25e42fb642a8" /><Relationship Type="http://schemas.openxmlformats.org/officeDocument/2006/relationships/notesMaster" Target="/ppt/notesMasters/notesMaster1.xml" Id="Ra45cd59cec4a4f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a36419227840fc" /><Relationship Type="http://schemas.openxmlformats.org/officeDocument/2006/relationships/notesMaster" Target="/ppt/notesMasters/notesMaster1.xml" Id="Rf481bcdbb90043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789c2aaa864a8c" /><Relationship Type="http://schemas.openxmlformats.org/officeDocument/2006/relationships/notesMaster" Target="/ppt/notesMasters/notesMaster1.xml" Id="R4266cf0b94814b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5ca320e6a94ae9" /><Relationship Type="http://schemas.openxmlformats.org/officeDocument/2006/relationships/notesMaster" Target="/ppt/notesMasters/notesMaster1.xml" Id="R61eee87f467a48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0ebf8f7f454b4f" /><Relationship Type="http://schemas.openxmlformats.org/officeDocument/2006/relationships/notesMaster" Target="/ppt/notesMasters/notesMaster1.xml" Id="Rea9a28a3a6bb46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2ff4b1729d4727" /><Relationship Type="http://schemas.openxmlformats.org/officeDocument/2006/relationships/notesMaster" Target="/ppt/notesMasters/notesMaster1.xml" Id="R6f5f43f2599349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e244128eb64f69" /><Relationship Type="http://schemas.openxmlformats.org/officeDocument/2006/relationships/notesMaster" Target="/ppt/notesMasters/notesMaster1.xml" Id="R1816c36c943844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10x Genomics Xenium example data: https://www.10xgenomics.com/support/software/xenium-onboard-analysis/latest/resources/xenium-example-data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Goods et al., Nature Methods (2025): https://doi.org/10.1038/s41592-025-02617-2</a:t>
            </a:r>
          </a:p>
          <a:p xmlns:a="http://schemas.openxmlformats.org/drawingml/2006/main">
            <a:r>
              <a:t>Janesick et al., Nature Communications (2023): https://doi.org/10.1038/s41467-023-43458-x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10x Genomics full FFPE human breast IDC dataset, CC BY 4.0: https://www.10xgenomics.com/products/xenium-in-situ/human-breast-dataset-explorer</a:t>
            </a:r>
          </a:p>
          <a:p xmlns:a="http://schemas.openxmlformats.org/drawingml/2006/main">
            <a:r>
              <a:t>Metrics and plots generated locally from the complete official output bundle.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Moses et al., Nature Methods (2024): https://doi.org/10.1038/s41592-024-02325-3</a:t>
            </a:r>
          </a:p>
          <a:p xmlns:a="http://schemas.openxmlformats.org/drawingml/2006/main">
            <a:r>
              <a:t>Goods et al., Nature Methods (2025): https://doi.org/10.1038/s41592-025-02617-2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Janesick et al., Nature Communications (2023): https://doi.org/10.1038/s41467-023-43458-x</a:t>
            </a:r>
          </a:p>
          <a:p xmlns:a="http://schemas.openxmlformats.org/drawingml/2006/main">
            <a:r>
              <a:t>Distance plot generated locally from the complete 10x breast section. It is a computational proximity proxy, not a pathology-defined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Figures generated locally from the complete 10x human breast IDC output bundle.</a:t>
            </a:r>
          </a:p>
          <a:p xmlns:a="http://schemas.openxmlformats.org/drawingml/2006/main">
            <a:r>
              <a:t>Permutation logic and Moran's I implementation are documented in src/xenium_showcase/analysis.py.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release assets generated locally: README.md, RELEASE_NOTES.md, environment.yml, configs/, scripts/, src/, results/.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Summary of locally generated repository artifacts and executed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a0bf2d4ad40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21004e63674dee" /><Relationship Type="http://schemas.openxmlformats.org/officeDocument/2006/relationships/slideLayout" Target="/ppt/slideLayouts/slideLayout1.xml" Id="R089caafc6d5347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9caafc6d5347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d724333c24fef" /><Relationship Type="http://schemas.openxmlformats.org/officeDocument/2006/relationships/notesSlide" Target="/ppt/notesSlides/notesSlide1.xml" Id="R74462513461d40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74fd7140e4870" /><Relationship Type="http://schemas.openxmlformats.org/officeDocument/2006/relationships/notesSlide" Target="/ppt/notesSlides/notesSlide2.xml" Id="R089e6e3cc1cc4b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8479023344f12" /><Relationship Type="http://schemas.openxmlformats.org/officeDocument/2006/relationships/image" Target="/ppt/media/image.png" Id="Rfee41ba00801402d" /><Relationship Type="http://schemas.openxmlformats.org/officeDocument/2006/relationships/image" Target="/ppt/media/image2.png" Id="R7ba850d3321f4ea5" /><Relationship Type="http://schemas.openxmlformats.org/officeDocument/2006/relationships/notesSlide" Target="/ppt/notesSlides/notesSlide3.xml" Id="Rb90833912eb544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277dd913f43b6" /><Relationship Type="http://schemas.openxmlformats.org/officeDocument/2006/relationships/notesSlide" Target="/ppt/notesSlides/notesSlide4.xml" Id="R12b77fc71c7b43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25a9eaa39426c" /><Relationship Type="http://schemas.openxmlformats.org/officeDocument/2006/relationships/image" Target="/ppt/media/image3.png" Id="R2b9b995a6db54b1d" /><Relationship Type="http://schemas.openxmlformats.org/officeDocument/2006/relationships/notesSlide" Target="/ppt/notesSlides/notesSlide5.xml" Id="R2dbb01ced5624b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14ae74c21413a" /><Relationship Type="http://schemas.openxmlformats.org/officeDocument/2006/relationships/image" Target="/ppt/media/image4.png" Id="R5735b20a93e747ca" /><Relationship Type="http://schemas.openxmlformats.org/officeDocument/2006/relationships/image" Target="/ppt/media/image5.png" Id="Re9888f65cb7d4598" /><Relationship Type="http://schemas.openxmlformats.org/officeDocument/2006/relationships/notesSlide" Target="/ppt/notesSlides/notesSlide6.xml" Id="R43bea4a555114c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e84edb7e6497c" /><Relationship Type="http://schemas.openxmlformats.org/officeDocument/2006/relationships/notesSlide" Target="/ppt/notesSlides/notesSlide7.xml" Id="Rd9baf24dda6042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a20f83f5f488d" /><Relationship Type="http://schemas.openxmlformats.org/officeDocument/2006/relationships/notesSlide" Target="/ppt/notesSlides/notesSlide8.xml" Id="R6102d66b86bd47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290CA-C266-4B57-AC60-65E95662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55AAA-0989-4FBB-AB33-988D3438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XENIUM / HANDS-ON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FA1A8-E368-4E22-9BCD-C51514F9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19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From decoded transcripts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to tissue niches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49DDE-7EA6-4B0E-BFE1-4E7B5859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470"/>
                </a:solidFill>
              </a:defRPr>
            </a:pPr>
            <a:r>
              <a:rPr sz="1800" b="0">
                <a:solidFill>
                  <a:srgbClr val="5D6470"/>
                </a:solidFill>
              </a:rPr>
              <a:t>A reproducible QC-to-application portfolio built around transcript assignment, segmentation, and spatial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B6588-3CE8-4CFA-BD5B-AD5F8D48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28700"/>
            <a:ext cx="26479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B5E06-28A5-4DA9-9228-8B317D0E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3906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575K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26AD8-7CCB-4F06-A5A9-7C1BC1E4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336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segmented cells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9494A-C6F3-483A-A53A-E5EA89B7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86.8M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9CD01-3D10-4DFB-95BD-EE7EB176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decoded transcripts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A59EE-DC6F-41C0-A768-7E397A81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470"/>
                </a:solidFill>
              </a:defRPr>
            </a:pPr>
            <a:r>
              <a:rPr sz="1050" b="0">
                <a:solidFill>
                  <a:srgbClr val="5D6470"/>
                </a:solidFill>
              </a:rPr>
              <a:t>2026 · full biological run</a:t>
            </a:r>
          </a:p>
        </p:txBody>
      </p:sp>
    </p:spTree>
    <p:extLst>
      <p:ext uri="{BB962C8B-B14F-4D97-AF65-F5344CB8AC3E}">
        <p14:creationId xmlns:p14="http://schemas.microsoft.com/office/powerpoint/2010/main" val="1267251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FFEDEF-B8E0-4D26-8B01-52B94CCF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XENIUM QC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4DD5A-B2FD-4AC2-8D63-0ED6CF0F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Xenium quality is a chain, not a count cutoff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FBDFC-67C8-4FBA-B4A5-358B9C90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47371-EAA4-499E-9EE0-E49BF3D8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025B1-A8F7-46D9-8F6D-28EAA3F6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4FBDB-6828-4F5B-A287-0F37855F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Decode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4F56F-072C-40D8-BA40-FD72F063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QV +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4C97C-D810-4EC1-B694-E08E7205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67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F7407-94CE-437A-8548-245948DA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39F1E-63AC-4BFF-A41E-1EE8B061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76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C693D-11A8-46AD-8667-0CFB1C8D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Assign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BD2FB-3CEF-4C40-9243-3C1677E2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86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cell_id + locality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ED6E5-A25B-4644-B93B-9A77C2CA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67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77E51-3E41-48C7-A808-1A6EDEBF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0505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D1E48-30D2-435C-93AE-C1D04872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5E20F-07E9-43ED-8A1F-CEAE23D5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Segment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FC345-93AE-4388-8E38-0E24BFB7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cell / nucleus geometry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90EB5-69F0-4FA8-9191-62181CDE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67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85D0B-FB64-40C3-8746-C305EF76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F1F1D-81AC-44FF-BA22-BDC6D8AD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76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24E4D4-2114-4C24-BC44-E927B35A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Profile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D3A63-834A-4018-9703-090CC9BE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86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panel-aware identity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B90C5E-C13E-4863-B6E8-01045B2B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67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546A63-25EB-49B6-8586-5F786803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0505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06CBB8-071B-4130-9829-91A46444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76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FBFC81-0039-4459-B626-F8A3DB5B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Interpret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24CFBF-0FFE-420D-92D3-68BBFC0B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86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spatial null models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3C4419-E37C-432B-97AC-74A8A69A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A failure upstream can masquerade as biology downstream.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4F9127-5C06-4F89-BF11-54E89780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70"/>
                </a:solidFill>
              </a:defRPr>
            </a:pPr>
            <a:r>
              <a:rPr sz="1500" b="0">
                <a:solidFill>
                  <a:srgbClr val="5D6470"/>
                </a:solidFill>
              </a:rPr>
              <a:t>The workflow keeps each evidence layer visible and versioned so a reviewer can audit how a cell entered a neighborhood claim.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FE111D-3559-4227-BF3B-7287552E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8319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71C64-5F76-44C5-9B81-33E81968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XENIUM QC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3E984-AF69-4CF5-8814-1490036A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full breast section passed the complete QC-to-niche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BCAB5-44A4-4376-864D-D7DE9E3A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41ba00801402d"/>
          <a:stretch xmlns:a="http://schemas.openxmlformats.org/drawingml/2006/main"/>
        </p:blipFill>
        <p:spPr>
          <a:xfrm xmlns:a="http://schemas.openxmlformats.org/drawingml/2006/main">
            <a:off x="685800" y="1820853"/>
            <a:ext cx="6667500" cy="2359044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850d3321f4ea5"/>
          <a:stretch xmlns:a="http://schemas.openxmlformats.org/drawingml/2006/main"/>
        </p:blipFill>
        <p:spPr>
          <a:xfrm xmlns:a="http://schemas.openxmlformats.org/drawingml/2006/main">
            <a:off x="3021067" y="4343400"/>
            <a:ext cx="1996966" cy="1809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65B6F-FF10-4E91-AA53-9E17CD6B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574,852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A83C9-CF47-4493-A454-0187346C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segmented cells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5A492-7A74-4CBE-8DF6-F8C41738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97.7%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BF3FC-83C5-4AE5-9EB1-07FAFFE1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cells passing configured QC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06846-7A14-42FE-AE28-0A5AB2AE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9D2E"/>
                </a:solidFill>
              </a:defRPr>
            </a:pPr>
            <a:r>
              <a:rPr sz="2700" b="1">
                <a:solidFill>
                  <a:srgbClr val="FF9D2E"/>
                </a:solidFill>
              </a:rPr>
              <a:t>105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D4B46-A951-462D-826F-BB87D6CE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624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median transcripts per cell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D7FEA-7114-4120-969E-3CB347CD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95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46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A2F27-0A4C-43DD-8A15-3B6FA8B5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911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median detected genes per cell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54BF9-3BBA-43FD-B0B0-8656ADF6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05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A66D"/>
                </a:solidFill>
              </a:defRPr>
            </a:pPr>
            <a:r>
              <a:rPr sz="1050" b="1">
                <a:solidFill>
                  <a:srgbClr val="15A66D"/>
                </a:solidFill>
              </a:rPr>
              <a:t>FULL BIOLOGICAL SAMPLE · XOA 1.0.2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0E40E-5142-46E7-BDF2-BEBD6378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3937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792583-FB96-49EB-88C0-B76D407D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XENIUM QC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E1689-DB2B-492D-8E68-30948A6D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QC separates assay failure from segmentation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9DA99-9369-430F-B062-803CB799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39D3F-6B20-4969-856A-C3C27485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9520E-BB5C-42C4-9F7E-32A9B7E2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MEASURE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28D04-9E50-4BD7-91FB-1AD8B026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FAILURE 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9F99E-C291-4D37-BC5A-C8A80F74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169FC-E017-4363-884A-45C451AA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A3FDE-FC17-4633-9B59-ABAAA824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Specificity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22B7F-AFE3-471B-8D78-9D683456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QV tails · negative probes · codewords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68B41-CF93-443E-B221-71202E87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background or decoding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6FD29-0BCF-43FF-B5AC-EA9285BF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spatial hotspot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3B50B-DA8A-492D-B750-BBFE1338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94633-4DDC-4D4A-BDAB-E32A2E05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Assignment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FF825-808D-4E9D-8A86-3EA72A24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05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assigned fraction · unassigned density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52D09-E0B1-415F-A8A5-520513B9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boundary / cytoplasm mismatch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8631D-C17F-496A-8A4D-684089BD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compare by morphology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EB146-B48B-4F3D-A5C6-1AE9CB06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F0CC9B-E7D1-4EE6-8159-1342996B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Geometry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9CF6CC-E0EC-4941-BAB1-10938E41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nucleus:cell area · density · nuclei/cell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E7202-DE5A-45DB-AFCD-62ED96F3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over/under-segmentation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6E1032-F4CC-40C9-94D5-FE2EF4C6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481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flag extremes, inspect image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56E13-1112-45AA-AC06-8C8A1B6F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8AD53F-C803-4005-882A-B84A3CA3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Identity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0AF7B-FAF4-41D6-AD2A-483B36F1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marker score · annotation margin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E21F52-7822-4A5D-833D-580B201E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910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panel dropout or mixed lineage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91457E-56BD-4197-AA6B-8733E652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910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retain unresolved cells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1D7620-E5AC-4D44-B6F4-D0659F52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768CEF-6B74-49FC-A419-FCFF017C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Spatial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DA0ACC-C6D3-4F15-A818-A9C144AC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local yield · Moran’s I · adjacency 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6AFD16-2769-41C9-8D6C-B055E1CB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340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technical stripe or real niche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647DCB-8601-4A3B-911B-B3997B29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340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replicate + pathology support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532754-3AC2-48B3-9D82-24A4B46F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Thresholds are hypotheses. Test them by sample and cell class.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190156-2864-4F16-8AD8-7F3D1DD4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329646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D278F-4E7B-481C-A06A-587CA197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XENIUM QC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E23BB-7260-442A-A71F-10B7E2D6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application asks what changes at the invasive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5142F-103C-4D88-81F5-3DEFE8BF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b995a6db54b1d"/>
          <a:stretch xmlns:a="http://schemas.openxmlformats.org/drawingml/2006/main"/>
        </p:blipFill>
        <p:spPr>
          <a:xfrm xmlns:a="http://schemas.openxmlformats.org/drawingml/2006/main">
            <a:off x="1325350" y="1924050"/>
            <a:ext cx="4816901" cy="3676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DD5B4-9DC3-4395-BEF2-9ABBA7E6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431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Primary analyses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D5313-0BAB-4151-82BC-942EC9C1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112B3-CD71-4209-B045-A63BDDF3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384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distance-to-boundary gradients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95510-1A91-4C1A-A883-02F1ADB0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95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A245B-69C2-4334-BF69-AA349B9D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765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tumor–myeloid / fibroblast adjacency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B6485-F11B-44F2-AD17-1CA06E0A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9AFF6-1FB8-4413-BABA-69EA20F0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B–T neighborhood enrichment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65342-FDE9-467F-A43A-9ECAE890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719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2B162-3C44-4C58-8416-92054A14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529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region-aware pseudobulk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974E6-9FAE-47F1-9ABF-657B7AE2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51FE0-5E31-40C6-A4B7-6B24CCE0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911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segmentation sensitivity 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C407C-D563-4DB4-8689-4F1B9FFD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6882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B2014-2006-412B-9FF9-B88791DE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XENIUM QC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68536-CDB0-4748-AA31-D5017923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Spatial claims are tested against explicit null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94574-A657-42C3-BD12-C868C14F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5b20a93e747ca"/>
          <a:stretch xmlns:a="http://schemas.openxmlformats.org/drawingml/2006/main"/>
        </p:blipFill>
        <p:spPr>
          <a:xfrm xmlns:a="http://schemas.openxmlformats.org/drawingml/2006/main">
            <a:off x="685800" y="1889411"/>
            <a:ext cx="4476750" cy="3707828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88f65cb7d4598"/>
          <a:stretch xmlns:a="http://schemas.openxmlformats.org/drawingml/2006/main"/>
        </p:blipFill>
        <p:spPr>
          <a:xfrm xmlns:a="http://schemas.openxmlformats.org/drawingml/2006/main">
            <a:off x="5619750" y="2146056"/>
            <a:ext cx="4476750" cy="31945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F3A5E-61DD-4DF6-8EF6-1F55C1A0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85950"/>
            <a:ext cx="1219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C749E-7223-42DB-B20D-F2CABEE7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90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kNN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2A98B-25EB-46F0-ABFE-E900D9FB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3CA69-37F7-4DD9-A9D9-48D3B485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4325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shuffle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8EE8A-0FFC-4D36-97E1-EC758D9F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43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8104F-393C-46EE-A2F0-E9A8FC89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4386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z-score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53DCA-47C3-4D1A-B3E6-47D3201E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GATA3, PGR, KRT14, LUM and POSTN recover coherent tumor–stroma structure.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0CD52-63CF-4A9B-98E6-D4F9D340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9912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603A4A-CA68-4650-9179-56FECE35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XENIUM QC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66014-5AE4-4FF3-92FC-7D6B9FB7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release makes every handoff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061D2-24A4-4CB3-BC2A-F4B14EA7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318A5-8BEE-4A5E-8E2E-2BDEFAA2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RUNNABLE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C6341-C3F7-456F-8284-AB219AD7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REVIEWABLE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C2688-A740-46B2-9172-06BEEBE4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6755F-0396-488B-84F6-108031A8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1EB84-EC65-474C-AB78-3190AFEB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MD5-verified public download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07543-C244-4153-93B4-F2388CF3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D994E-458B-4928-A838-8F56D35E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74497-6D5A-424B-BE20-847E37AA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XOA-format-aware loader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5AE09-B7DF-49DB-A351-D08201C7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15D71-A570-4DCF-B79A-3C2E6A3E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10052-2BB5-4B72-BE42-73819D10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14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deterministic configuration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714EF-DBE5-4A33-B26B-B38C43BA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3C65A-575E-4554-A47D-200E7351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EFEE0-B2F9-445B-8B6B-C0973D4C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CSV / JSON evidence trail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B09CA-4905-4776-8877-61F78E1D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502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4541F-47F0-40B5-9779-99B5C37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D8510-A1A8-4913-86B9-AF023841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editable PPTX summary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23140-30DB-42EC-81CC-E1B9DAC3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502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27F07F-D34E-479C-95E1-2B3CFC8A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432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F817E-1531-4EE5-9CDE-0686F7DB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threshold sensitivity hooks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87F52B-98A2-4DB7-BE69-8FE05279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502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C005C-B497-406D-8698-3EBCCD8C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24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4D43F6-6923-4411-9172-4203C014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14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full-data breast profile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8BB16B-BCFE-4629-9BAD-402FBFB1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502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5E49F8-39EB-4684-9369-979A67FD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05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99555F-CC95-410D-AB4B-46063BAF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95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clear demo-vs-biology guardrail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155CC8-818D-463A-ACBE-AEFE31FE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Scale-up path: patient-level pseudobulk · pathology registration · container digest · workflow engine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A23282-744F-49CC-B42E-0948C531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2653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3D6D9-F6DC-4014-B390-CA019D16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THE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63186-E5D6-49A4-A822-C5F28600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I can trace a spatial claim</a:t>
            </a:r>
          </a:p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back to the transcript.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B5643-F79E-45C3-9C95-C15B443E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81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470"/>
                </a:solidFill>
              </a:defRPr>
            </a:pPr>
            <a:r>
              <a:rPr sz="1800" b="0">
                <a:solidFill>
                  <a:srgbClr val="5D6470"/>
                </a:solidFill>
              </a:rPr>
              <a:t>This release demonstrates more than clustering: it connects platform-aware QC, segmentation diagnostics, spatial statistics, and a biologically motivated boundary question in one reproducible package.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C9126-8D2E-4096-97D7-8C0C6AC8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123950"/>
            <a:ext cx="2514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2836E-082A-411C-BAB4-C74E5287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240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E18A1-9954-4594-9BDC-7B32A77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14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to run locally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6B1BD-AB84-4DBA-81C6-5F47E321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003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44C63-D294-48B0-81ED-EAE9F8B6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62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full 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7825B-40FB-47A9-A5E7-151F5644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385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figures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8947A-5F72-499B-8E27-92DB0F89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14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PPTX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7673B-DA8F-495E-A6AC-35067EC8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91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release notes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33464-2B3E-4EB2-8840-D29C9552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470"/>
                </a:solidFill>
              </a:defRPr>
            </a:pPr>
            <a:r>
              <a:rPr sz="1125" b="0">
                <a:solidFill>
                  <a:srgbClr val="5D6470"/>
                </a:solidFill>
              </a:rPr>
              <a:t>github.com / full-data release</a:t>
            </a:r>
          </a:p>
        </p:txBody>
      </p:sp>
    </p:spTree>
    <p:extLst>
      <p:ext uri="{BB962C8B-B14F-4D97-AF65-F5344CB8AC3E}">
        <p14:creationId xmlns:p14="http://schemas.microsoft.com/office/powerpoint/2010/main" val="548687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2026-08-15T04:45:35.1300000Z</dcterms:created>
  <dcterms:modified xsi:type="dcterms:W3CDTF">2026-08-15T04:45:35.1300000Z</dcterms:modified>
</coreProperties>
</file>