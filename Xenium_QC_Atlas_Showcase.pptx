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b844ac2eea491e" /><Relationship Type="http://schemas.openxmlformats.org/officeDocument/2006/relationships/extended-properties" Target="/docProps/app.xml" Id="Rfe4bf833c9d34c38" /><Relationship Type="http://schemas.openxmlformats.org/officeDocument/2006/relationships/officeDocument" Target="/ppt/presentation.xml" Id="R982cd0e3f7244b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9e2ab9c22d4565"/>
  </p:sldMasterIdLst>
  <p:notesMasterIdLst>
    <p:notesMasterId xmlns:r="http://schemas.openxmlformats.org/officeDocument/2006/relationships" r:id="Rddf2c146126b48ef"/>
  </p:notesMasterIdLst>
  <p:sldIdLst>
    <p:sldId xmlns:r="http://schemas.openxmlformats.org/officeDocument/2006/relationships" id="256" r:id="R254c76000209471c"/>
    <p:sldId xmlns:r="http://schemas.openxmlformats.org/officeDocument/2006/relationships" id="257" r:id="R49e95799a2bc4224"/>
    <p:sldId xmlns:r="http://schemas.openxmlformats.org/officeDocument/2006/relationships" id="258" r:id="R15ae73b541e24f9a"/>
    <p:sldId xmlns:r="http://schemas.openxmlformats.org/officeDocument/2006/relationships" id="259" r:id="Rb0cbe6d87b624c0b"/>
    <p:sldId xmlns:r="http://schemas.openxmlformats.org/officeDocument/2006/relationships" id="260" r:id="Rbc9f5ecf43854384"/>
    <p:sldId xmlns:r="http://schemas.openxmlformats.org/officeDocument/2006/relationships" id="261" r:id="Ra8109d0fcb70449e"/>
    <p:sldId xmlns:r="http://schemas.openxmlformats.org/officeDocument/2006/relationships" id="262" r:id="R33b4942da7664393"/>
    <p:sldId xmlns:r="http://schemas.openxmlformats.org/officeDocument/2006/relationships" id="263" r:id="Rb04b90e324aa49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8c9a7bfb44c38" /><Relationship Type="http://schemas.openxmlformats.org/officeDocument/2006/relationships/slideMaster" Target="/ppt/slideMasters/slideMaster1.xml" Id="Rab9e2ab9c22d4565" /><Relationship Type="http://schemas.openxmlformats.org/officeDocument/2006/relationships/notesMaster" Target="/ppt/notesMasters/notesMaster1.xml" Id="Rddf2c146126b48ef" /><Relationship Type="http://schemas.openxmlformats.org/officeDocument/2006/relationships/presProps" Target="/ppt/presProps.xml" Id="Rf63a2b784d5a4a8a" /><Relationship Type="http://schemas.openxmlformats.org/officeDocument/2006/relationships/tableStyles" Target="/ppt/tableStyles.xml" Id="R61f7097540524d32" /><Relationship Type="http://schemas.openxmlformats.org/officeDocument/2006/relationships/slide" Target="/ppt/slides/slide1.xml" Id="R254c76000209471c" /><Relationship Type="http://schemas.openxmlformats.org/officeDocument/2006/relationships/slide" Target="/ppt/slides/slide2.xml" Id="R49e95799a2bc4224" /><Relationship Type="http://schemas.openxmlformats.org/officeDocument/2006/relationships/slide" Target="/ppt/slides/slide3.xml" Id="R15ae73b541e24f9a" /><Relationship Type="http://schemas.openxmlformats.org/officeDocument/2006/relationships/slide" Target="/ppt/slides/slide4.xml" Id="Rb0cbe6d87b624c0b" /><Relationship Type="http://schemas.openxmlformats.org/officeDocument/2006/relationships/slide" Target="/ppt/slides/slide5.xml" Id="Rbc9f5ecf43854384" /><Relationship Type="http://schemas.openxmlformats.org/officeDocument/2006/relationships/slide" Target="/ppt/slides/slide6.xml" Id="Ra8109d0fcb70449e" /><Relationship Type="http://schemas.openxmlformats.org/officeDocument/2006/relationships/slide" Target="/ppt/slides/slide7.xml" Id="R33b4942da7664393" /><Relationship Type="http://schemas.openxmlformats.org/officeDocument/2006/relationships/slide" Target="/ppt/slides/slide8.xml" Id="Rb04b90e324aa49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4196ed7bfc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6c947ecdfb4b02" /><Relationship Type="http://schemas.openxmlformats.org/officeDocument/2006/relationships/notesMaster" Target="/ppt/notesMasters/notesMaster1.xml" Id="R743cc0b4cbc442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133bf49ef54182" /><Relationship Type="http://schemas.openxmlformats.org/officeDocument/2006/relationships/notesMaster" Target="/ppt/notesMasters/notesMaster1.xml" Id="Re72c850ecc884e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dee2d7204a4886" /><Relationship Type="http://schemas.openxmlformats.org/officeDocument/2006/relationships/notesMaster" Target="/ppt/notesMasters/notesMaster1.xml" Id="Rb4bb00cc35274e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cfbeeb91234a6e" /><Relationship Type="http://schemas.openxmlformats.org/officeDocument/2006/relationships/notesMaster" Target="/ppt/notesMasters/notesMaster1.xml" Id="R3eeff48ee2c046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9f894290c849da" /><Relationship Type="http://schemas.openxmlformats.org/officeDocument/2006/relationships/notesMaster" Target="/ppt/notesMasters/notesMaster1.xml" Id="R57f0df2c209e44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bbe3e6564b4eac" /><Relationship Type="http://schemas.openxmlformats.org/officeDocument/2006/relationships/notesMaster" Target="/ppt/notesMasters/notesMaster1.xml" Id="R53eb752ad9ae47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d2ac3ea1ed34b14" /><Relationship Type="http://schemas.openxmlformats.org/officeDocument/2006/relationships/notesMaster" Target="/ppt/notesMasters/notesMaster1.xml" Id="R9cdd2bed8db844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460af6f6994dc0" /><Relationship Type="http://schemas.openxmlformats.org/officeDocument/2006/relationships/notesMaster" Target="/ppt/notesMasters/notesMaster1.xml" Id="R7de39316dce0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10x Genomics Xenium example data: https://www.10xgenomics.com/support/software/xenium-onboard-analysis/latest/resources/xenium-example-data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Goods et al., Nature Methods (2025): https://doi.org/10.1038/s41592-025-02617-2</a:t>
            </a:r>
          </a:p>
          <a:p xmlns:a="http://schemas.openxmlformats.org/drawingml/2006/main">
            <a:r>
              <a:t>Janesick et al., Nature Communications (2023): https://doi.org/10.1038/s41467-023-43458-x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10x Genomics XOA v3.0 trimmed test dataset, CC BY 4.0: https://www.10xgenomics.com/support/software/xenium-onboard-analysis/latest/resources/xenium-example-data</a:t>
            </a:r>
          </a:p>
          <a:p xmlns:a="http://schemas.openxmlformats.org/drawingml/2006/main">
            <a:r>
              <a:t>Metrics and plots generated locally by this repository. The dataset is artificially trimmed and not suitable for biological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Moses et al., Nature Methods (2024): https://doi.org/10.1038/s41592-024-02325-3</a:t>
            </a:r>
          </a:p>
          <a:p xmlns:a="http://schemas.openxmlformats.org/drawingml/2006/main">
            <a:r>
              <a:t>Goods et al., Nature Methods (2025): https://doi.org/10.1038/s41592-025-02617-2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Janesick et al., Nature Communications (2023): https://doi.org/10.1038/s41467-023-43458-x</a:t>
            </a:r>
          </a:p>
          <a:p xmlns:a="http://schemas.openxmlformats.org/drawingml/2006/main">
            <a:r>
              <a:t>Sakai et al., British Journal of Cancer (2025): https://doi.org/10.1038/s41416-025-03088-0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Figures generated locally by this repository from the 10x trimmed test fixture. No biological inference is made.</a:t>
            </a:r>
          </a:p>
          <a:p xmlns:a="http://schemas.openxmlformats.org/drawingml/2006/main">
            <a:r>
              <a:t>Permutation logic and Moran's I implementation are documented in src/xenium_showcase/analysis.py.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 release assets generated locally: README.md, RELEASE_NOTES.md, environment.yml, configs/, scripts/, src/, results/.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Summary of locally generated repository artifacts and executed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61c670eb46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0b97f51f19486d" /><Relationship Type="http://schemas.openxmlformats.org/officeDocument/2006/relationships/slideLayout" Target="/ppt/slideLayouts/slideLayout1.xml" Id="R0be8fd864c7e4b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e8fd864c7e4b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2199119074856" /><Relationship Type="http://schemas.openxmlformats.org/officeDocument/2006/relationships/notesSlide" Target="/ppt/notesSlides/notesSlide1.xml" Id="Raf0c8d8cb7ae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ac2e13416405f" /><Relationship Type="http://schemas.openxmlformats.org/officeDocument/2006/relationships/notesSlide" Target="/ppt/notesSlides/notesSlide2.xml" Id="R103ce91d7b63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b62bb240e4f0f" /><Relationship Type="http://schemas.openxmlformats.org/officeDocument/2006/relationships/image" Target="/ppt/media/image.png" Id="R4e77db5cd6624b73" /><Relationship Type="http://schemas.openxmlformats.org/officeDocument/2006/relationships/image" Target="/ppt/media/image2.png" Id="Rbcea462e3d514ccf" /><Relationship Type="http://schemas.openxmlformats.org/officeDocument/2006/relationships/notesSlide" Target="/ppt/notesSlides/notesSlide3.xml" Id="R47522b85ebd34d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d046361af4c08" /><Relationship Type="http://schemas.openxmlformats.org/officeDocument/2006/relationships/notesSlide" Target="/ppt/notesSlides/notesSlide4.xml" Id="R5985534682fb42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a9bc4a4c648d1" /><Relationship Type="http://schemas.openxmlformats.org/officeDocument/2006/relationships/notesSlide" Target="/ppt/notesSlides/notesSlide5.xml" Id="R80c925843aa642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1554ecbf54325" /><Relationship Type="http://schemas.openxmlformats.org/officeDocument/2006/relationships/image" Target="/ppt/media/image3.png" Id="R2dea147a5d464dab" /><Relationship Type="http://schemas.openxmlformats.org/officeDocument/2006/relationships/image" Target="/ppt/media/image4.png" Id="R9fe85ba3e71a4086" /><Relationship Type="http://schemas.openxmlformats.org/officeDocument/2006/relationships/notesSlide" Target="/ppt/notesSlides/notesSlide6.xml" Id="Rfbc0316809ce4a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c5ff0c9874267" /><Relationship Type="http://schemas.openxmlformats.org/officeDocument/2006/relationships/notesSlide" Target="/ppt/notesSlides/notesSlide7.xml" Id="Rbbf247b3b6394c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b79f90f004f1e" /><Relationship Type="http://schemas.openxmlformats.org/officeDocument/2006/relationships/notesSlide" Target="/ppt/notesSlides/notesSlide8.xml" Id="R3dcc0a8b038244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83DF7-9D53-40BE-85EE-57418023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6A5B5-82BD-4E55-8E3D-E4365477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XENIUM / HANDS-ON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27962-A163-4DB8-89CB-2365E0EC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From decoded transcripts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to tissue niches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6FB30-B6A1-4105-9137-FA9BD995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A reproducible QC-to-application portfolio built around transcript assignment, segmentation, and spatial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D8E6C-D7E1-45B5-969A-47F746B9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28700"/>
            <a:ext cx="26479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C8AB1-7AD1-4AEF-8002-F4105F20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906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C4FBA-0C7E-4BF6-8856-35DD35AC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336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real 10x test bundle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DF2A5-D77F-4853-B3E2-37278614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4325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3D8DFF"/>
                </a:solidFill>
              </a:defRPr>
            </a:pPr>
            <a:r>
              <a:rPr sz="3900" b="1">
                <a:solidFill>
                  <a:srgbClr val="3D8D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30286-E0B6-4F7C-96EB-30827394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86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auditable figures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FBEED-78A3-4368-BC20-1BE5552E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470"/>
                </a:solidFill>
              </a:defRPr>
            </a:pPr>
            <a:r>
              <a:rPr sz="1050" b="0">
                <a:solidFill>
                  <a:srgbClr val="5D6470"/>
                </a:solidFill>
              </a:rPr>
              <a:t>2026 · release v0.1.0</a:t>
            </a:r>
          </a:p>
        </p:txBody>
      </p:sp>
    </p:spTree>
    <p:extLst>
      <p:ext uri="{BB962C8B-B14F-4D97-AF65-F5344CB8AC3E}">
        <p14:creationId xmlns:p14="http://schemas.microsoft.com/office/powerpoint/2010/main" val="1419696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D3E1B-87A1-43D6-A60D-DD67FCE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53A02-0104-4B39-A274-1A175B66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Xenium quality is a chain, not a count cutoff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14CF-6F61-465C-80C4-59B6F82B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00F7A-0EB3-462F-A47B-A9542BAB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DC6A0-6B6C-451B-BBBF-5B99138E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E9BCC-CE5D-4C2B-911D-F4B40A0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Decode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D8C06-8218-4285-8658-A34A5C2E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QV +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2118E-A2A3-4E9E-88B7-BDDC4B16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0F949-FB3E-47F2-AAD6-352855C7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7282C-8A19-47F6-8779-1DFCCD2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95BBC-2C55-414F-960F-46D81C2D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Assign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289CF-7D91-43E0-BCBB-08A9D7FD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cell_id + locality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0F2F2B-0CF9-4500-80D8-5A18B473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429006-ECC2-4975-9574-CC685F27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445DD-71DC-4EE5-937A-FDFECBC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90A61-C822-4F2D-8E4C-AE42A491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Segment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F2E1D-2B6C-4C15-B95C-C5741108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cell / nucleus geometry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93F55-DB32-48E8-9203-DCB62B04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D0086F-1BE1-41C2-8622-BF837E9C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5982A-C554-4732-876A-8A1B8750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6DC92-738F-4900-A38C-8A99AED0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Profile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23E17-C8A6-40F5-A2D2-2B05A633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panel-aware 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76866-8CA0-4059-A133-13A2EDA0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670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73F322-F9B2-4ABF-AE2D-78B50CA4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0505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76D98F-0F0B-4267-AB00-4718040D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765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3CC0A-80EB-4A21-9AA0-8DD754BF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Interpret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29A37-B128-4C18-A9FC-0116EBAA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spatial null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0ABF76-950C-47B3-A055-243A8E5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A failure upstream can masquerade as biology downstream.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62C21-5787-4CB3-A960-B2BD373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470"/>
                </a:solidFill>
              </a:defRPr>
            </a:pPr>
            <a:r>
              <a:rPr sz="1500" b="0">
                <a:solidFill>
                  <a:srgbClr val="5D6470"/>
                </a:solidFill>
              </a:rPr>
              <a:t>The workflow keeps each evidence layer visible and versioned so a reviewer can audit how a cell entered a neighborhood claim.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17C19-F719-44CD-B23D-0B3334EB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3876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8466D-D1E7-49F2-9A15-02BBB296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CC014-DA03-438F-91FB-3FBD1ED2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complete code path ran on an official Xenium Prime bundle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CF21F-A0C4-45D3-8B3C-73F7340B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7db5cd6624b73"/>
          <a:stretch xmlns:a="http://schemas.openxmlformats.org/drawingml/2006/main"/>
        </p:blipFill>
        <p:spPr>
          <a:xfrm xmlns:a="http://schemas.openxmlformats.org/drawingml/2006/main">
            <a:off x="728256" y="1809750"/>
            <a:ext cx="6582587" cy="23812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a462e3d514ccf"/>
          <a:stretch xmlns:a="http://schemas.openxmlformats.org/drawingml/2006/main"/>
        </p:blipFill>
        <p:spPr>
          <a:xfrm xmlns:a="http://schemas.openxmlformats.org/drawingml/2006/main">
            <a:off x="2751139" y="4343400"/>
            <a:ext cx="2536821" cy="1809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8E3AF-715B-477D-86EC-D47062A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E947C-98D7-49F6-9CDB-39C5297C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05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cells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7DFAE-201D-48F6-8AD3-BE2E399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6D128-17E7-431D-B245-D2009B7C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pass configured smoke-test QC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26DEF-233E-4BFF-87E4-9630E229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671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9D2E"/>
                </a:solidFill>
              </a:defRPr>
            </a:pPr>
            <a:r>
              <a:rPr sz="2700" b="1">
                <a:solidFill>
                  <a:srgbClr val="FF9D2E"/>
                </a:solidFill>
              </a:rPr>
              <a:t>58.8%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188B2-23C0-4043-A556-B8CE7840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all-transcript assignment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32D040-3B73-4C71-A2D0-0270CC0C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95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D8DFF"/>
                </a:solidFill>
              </a:defRPr>
            </a:pPr>
            <a:r>
              <a:rPr sz="2700" b="1">
                <a:solidFill>
                  <a:srgbClr val="3D8DFF"/>
                </a:solidFill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D39B8-FD04-446D-95CB-A82731FF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figures + machine-readable tables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BFEBDD-BCEB-4A4B-926A-FAE1615D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055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5252"/>
                </a:solidFill>
              </a:defRPr>
            </a:pPr>
            <a:r>
              <a:rPr sz="1050" b="1">
                <a:solidFill>
                  <a:srgbClr val="D65252"/>
                </a:solidFill>
              </a:rPr>
              <a:t>TECHNICAL FIXTURE — NO BIOLOGICAL INFERENCE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203DA-165B-47D5-B7FE-00C3461E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3238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67F85-FC58-4E2F-AD29-E5EB0DF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23B3A-D32B-4905-B7A6-1BF9E7F0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QC separates assay failure from segmentation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9C6E9-2659-4C2E-B18F-84273C3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53A8B-9010-45A7-94DD-991CBC4F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790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E00F0-48B5-4305-9A71-70E891B8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8097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2B8E4-994C-42F5-8F02-DEA5FF5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FAILURE MODE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6A192-BD57-4E9A-8CE7-AE73732F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470"/>
                </a:solidFill>
              </a:defRPr>
            </a:pPr>
            <a:r>
              <a:rPr sz="1125" b="1">
                <a:solidFill>
                  <a:srgbClr val="5D6470"/>
                </a:solidFill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D5007-A23E-4685-9D27-D18A72EC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6FF85-80FE-41C2-A7EB-DD7BC136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Specificity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0C456-5872-45BC-B269-850AD09F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QV tails · negative probes · codewords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D85EF-4B59-498E-85D2-3C689679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622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background or decoding artifact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B56E4-6429-4A2A-A1A2-C4FC509E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622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spatial hotspot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2CDA29-35D2-4333-899D-3FF617D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A5E43-D268-43CE-955E-033BCFD8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37569-061B-4056-BA8F-78CB1DE0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051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assigned fraction · unassigned density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5835B9-A3B4-4C1E-B89D-2EE391E9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boundary / cytoplasm mismatch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0D045B-D07C-416F-8869-029B97A3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compare by morphology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1B117-551B-4F80-A0E0-6C831ADE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9FEACA-B0FB-47F2-AF7B-B4DFCCEA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3DC828-1FC9-404A-83C8-DEA23A24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481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nucleus:cell area · density · nuclei/cell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4DAB9-6089-4880-8D63-FC81D657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over/under-segmentation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91834-F20A-42EB-9241-B296797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481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flag extremes, inspect image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D10D3-BAC9-4FAC-B70C-8908ED86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58ED4F-9F57-4F64-8B89-76D76A2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F4C723-A5A7-40CB-9C37-87C49F8D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9105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marker score · annotation margin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27287D-E13C-4371-8C6E-349D8D56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panel dropout or mixed lineage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CCF170-1DA4-4AC1-8D81-8E326DEF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59105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retain unresolved cells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D09CC4-8910-4C83-9CC3-4D36537C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FEF583-34BA-495D-9EB9-49762376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Spatial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9FC01A-6BF6-4640-9797-D02510DE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local yield · Moran’s I · adjacency z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6F639-FB15-4D1A-AF84-4E1E29B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34000"/>
            <a:ext cx="2743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technical stripe or real niche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F20B0-7A7F-47A1-8A95-745D07C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34000"/>
            <a:ext cx="260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470"/>
                </a:solidFill>
              </a:defRPr>
            </a:pPr>
            <a:r>
              <a:rPr sz="1275" b="0">
                <a:solidFill>
                  <a:srgbClr val="5D6470"/>
                </a:solidFill>
              </a:rPr>
              <a:t>replicate + pathology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6684AD-1623-4B01-A876-0F75141F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</a:defRPr>
            </a:pPr>
            <a:r>
              <a:rPr sz="1425" b="1">
                <a:solidFill>
                  <a:srgbClr val="3D8DFF"/>
                </a:solidFill>
              </a:rPr>
              <a:t>Thresholds are hypotheses. Test them by sample and cell class.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7B3B81-06DC-4270-8C84-7271F5D1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62918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23D81C-588E-4132-83E0-5702CE63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D3F8E-17A9-47D8-8424-CFA64067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application asks what changes at the invasive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B5224-A759-4B63-BBEF-FD935DED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B70FC-7951-407B-B653-5C46A348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60960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27D1E-DCD3-40B8-9782-28C81BA1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DCIS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C468E-85F6-487F-8DBD-9E20F217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EF76-B890-4F1A-9379-67D96D3E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528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tumor epithelium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C5056-D4B7-481D-8445-4E26AFB2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04421-3462-48D6-BCB9-128A2285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A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4C398-34BF-409A-B98D-846DD4AA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A66D"/>
                </a:solidFill>
              </a:defRPr>
            </a:pPr>
            <a:r>
              <a:rPr sz="1275" b="1">
                <a:solidFill>
                  <a:srgbClr val="15A66D"/>
                </a:solidFill>
              </a:rPr>
              <a:t>myoepithelial integrity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7F37E-58FE-44F8-BB36-533965CA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14287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1EE8B-5AAC-428A-ABDE-1009B478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00400"/>
            <a:ext cx="1095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65252"/>
                </a:solidFill>
              </a:defRPr>
            </a:pPr>
            <a:r>
              <a:rPr sz="1950" b="1">
                <a:solidFill>
                  <a:srgbClr val="D65252"/>
                </a:solidFill>
              </a:rPr>
              <a:t>invasive</a:t>
            </a:r>
          </a:p>
          <a:p xmlns:a="http://schemas.openxmlformats.org/drawingml/2006/main">
            <a:pPr algn="ctr">
              <a:defRPr sz="1950" b="1">
                <a:solidFill>
                  <a:srgbClr val="D65252"/>
                </a:solidFill>
              </a:defRPr>
            </a:pPr>
            <a:r>
              <a:rPr sz="1950" b="1">
                <a:solidFill>
                  <a:srgbClr val="D65252"/>
                </a:solidFill>
              </a:rPr>
              <a:t>front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142AC-3795-4282-A404-B57495C9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E51BF-315F-4DCA-BAC9-C41E4E44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B1D07-D8B4-4116-BF82-C45149DD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53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D8236D-EA48-467F-9210-28D38AAE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3B5A8-91C0-44F0-854B-AE4F9837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53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E831E-AA2E-4D89-9EF5-13C3EF39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</a:defRPr>
            </a:pPr>
            <a:r>
              <a:rPr sz="1200" b="0">
                <a:solidFill>
                  <a:srgbClr val="5D6470"/>
                </a:solidFill>
              </a:rPr>
              <a:t>immune / stromal neighbors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D88A0-DA3D-40A6-A3BB-C99A1CA2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43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Primary analyses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7A200F-6772-4B06-B617-3F71F169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9F679-D2EB-4EBA-9707-89372DD2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384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distance-to-boundary gradients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8672C-BECD-485C-B64C-EEBF253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95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49D55-63DB-43DC-800C-BA93C74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765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tumor–myeloid / fibroblast adjacency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62E457-55EA-432C-BB7A-D12C780C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41291-3FA4-4705-A912-30461B4E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147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B–T neighborhood enrichment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C2C40C-480A-4CC1-8892-BC846959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71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1BDD6C-1496-4101-8EC8-5F2AC66E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3529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region-aware pseudobulk testing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A955F9-0E4C-4ABB-8DF2-75B12404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93FE68-24D3-4AFD-9601-ADAA8C76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991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segmentation sensitivity analysis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DD2F6-A3A3-4555-94CD-9E9E3900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8946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0B2DCF-F4F5-44F3-8C12-9DB9E507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B31B8-2DAC-4E11-8268-9190DAC8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Spatial claims are tested against explicit null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8F693-21D4-4F6D-BF22-942F9456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a147a5d464dab"/>
          <a:stretch xmlns:a="http://schemas.openxmlformats.org/drawingml/2006/main"/>
        </p:blipFill>
        <p:spPr>
          <a:xfrm xmlns:a="http://schemas.openxmlformats.org/drawingml/2006/main">
            <a:off x="757237" y="1885950"/>
            <a:ext cx="4333875" cy="37147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85ba3e71a4086"/>
          <a:stretch xmlns:a="http://schemas.openxmlformats.org/drawingml/2006/main"/>
        </p:blipFill>
        <p:spPr>
          <a:xfrm xmlns:a="http://schemas.openxmlformats.org/drawingml/2006/main">
            <a:off x="5619750" y="2059233"/>
            <a:ext cx="4476750" cy="336818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1377B-510A-43A0-BD7E-8956EF0E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85950"/>
            <a:ext cx="1219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3A3A5-D7A3-473D-8E77-742FD673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1907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kNN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9B584-861B-4DC7-8A79-823D4361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6670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5B53B-EA99-4C65-8CC4-8C376C4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143250"/>
            <a:ext cx="95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shuffle</a:t>
            </a:r>
          </a:p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labels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42DE6-1428-4BAF-BCD4-0039D312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43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7F176-198C-4F53-B92F-D88CFC09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4386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z-score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E2FD1-B457-41E5-8FC8-912C8DF4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The fixture confirms implementation; the full cohort supplies interpretable power.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F5541-B889-47D3-939B-B3DAD617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84405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C3204E-01C6-45BF-9253-4E8F1E9F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</a:defRPr>
            </a:pPr>
            <a:r>
              <a:rPr sz="1050" b="1">
                <a:solidFill>
                  <a:srgbClr val="3D8DFF"/>
                </a:solidFill>
              </a:rPr>
              <a:t>XENIUM QC 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14D7B5-4C0F-4AE6-BB82-09017B77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The release makes every handoff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A0EB9-01C8-4A4F-BEA2-1A6BBBDC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F4B4B-C1CC-4AA3-ABA2-30DACA77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RUNNABLE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AE2D9-E9DF-49F1-A1B2-DFF8AD9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REVIEWABLE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726F1-E69B-4C07-A8D8-E06297B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7AC2F-3C84-46C8-82C2-512B60774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D76D5-0E64-4628-8459-FCFBEE42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MD5-verified public download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94026-5B82-4851-A102-9ADA6086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F88B2F-C323-4FCD-9651-F912A10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43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2A5C75-3DE6-47F6-A953-92B71825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33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XOA-format-aware loader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4AC62-12D7-4031-982F-D7EE2000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E6B62-9B5E-4F95-B972-58E5291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77B37-C378-40D2-969E-BD01686A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deterministic configuration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AFF2A-5426-4998-8227-F7F59020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B1B01-A512-49BA-979E-9F965BB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B9163-E84D-40D3-97A6-EFC4EA0C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CSV / JSON evidence trail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678ED-6633-498C-BC80-64A44BC1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BE0D6-20C9-49BE-BCB7-6630AE9A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593C1C-7810-4AD6-B321-0557BD0D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527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editable PPTX summary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0B37D-6C19-4B02-8AFD-DAF50A2B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1D35B-287C-4518-94E3-50E38A6B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43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80F00D-0D78-4E55-87F6-70482B38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threshold sensitivity hooks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4839E-E5F3-48E6-93E9-B4962DE7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287613-ADED-4320-AE3E-00E840DC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24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48767-7F82-41C7-932F-E1FD20A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full-data breast 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BD178-B30F-49E4-B2CF-303AD77B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502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D12AE-85F7-4880-A6D8-6EEF6738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05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A66D"/>
                </a:solidFill>
              </a:defRPr>
            </a:pPr>
            <a:r>
              <a:rPr sz="1350" b="1">
                <a:solidFill>
                  <a:srgbClr val="15A66D"/>
                </a:solidFill>
              </a:rPr>
              <a:t>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DE624A-8CAC-4171-8BBF-BB0FF17A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95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clear demo-vs-biology guardrail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D211BB-45A2-407F-A02B-732F008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470"/>
                </a:solidFill>
              </a:defRPr>
            </a:pPr>
            <a:r>
              <a:rPr sz="1350" b="0">
                <a:solidFill>
                  <a:srgbClr val="5D6470"/>
                </a:solidFill>
              </a:rPr>
              <a:t>Scale-up path: patient-level pseudobulk · pathology registration · container digest · workflow engine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AE3CB4-BEE6-4A1B-A129-97FB92FE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19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D6470"/>
                </a:solidFill>
              </a:defRPr>
            </a:pPr>
            <a:r>
              <a:rPr sz="900" b="1">
                <a:solidFill>
                  <a:srgbClr val="5D64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29321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3F0B5-DD7C-41EC-9241-E9D33CD1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THE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09569-3BC7-4286-88EA-FAAF0612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I can trace a spatial claim</a:t>
            </a:r>
          </a:p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back to the transcript.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B14DFA-02A6-4151-8C4C-BB69B67A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470"/>
                </a:solidFill>
              </a:defRPr>
            </a:pPr>
            <a:r>
              <a:rPr sz="1800" b="0">
                <a:solidFill>
                  <a:srgbClr val="5D6470"/>
                </a:solidFill>
              </a:rPr>
              <a:t>This release demonstrates more than clustering: it connects platform-aware QC, segmentation diagnostics, spatial statistics, and a biologically motivated boundary question in one reproducible package.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F8E96-C766-4684-AF51-53F3A503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123950"/>
            <a:ext cx="2514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7F3665-06C0-40D9-AE09-5A568960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524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39029-7370-4F44-995C-5AB8EC5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to run locally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1FD51-FE9A-4E5E-BF20-09B7EF76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003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EC8C4-E385-49B9-BB16-2F11C428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623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demo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2EB6F-5ED8-4BC9-9DF4-F5BCE3E7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385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figures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98F84-F78F-4ACC-ADDC-33A20AF2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PPTX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E0C5D-04A6-4E33-BC25-69C01BE5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91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release 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64714C-169A-4B65-B57D-F81C5B19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470"/>
                </a:solidFill>
              </a:defRPr>
            </a:pPr>
            <a:r>
              <a:rPr sz="1125" b="0">
                <a:solidFill>
                  <a:srgbClr val="5D6470"/>
                </a:solidFill>
              </a:rPr>
              <a:t>github.com / release v0.1.0</a:t>
            </a:r>
          </a:p>
        </p:txBody>
      </p:sp>
    </p:spTree>
    <p:extLst>
      <p:ext uri="{BB962C8B-B14F-4D97-AF65-F5344CB8AC3E}">
        <p14:creationId xmlns:p14="http://schemas.microsoft.com/office/powerpoint/2010/main" val="2007311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2026-08-15T03:39:29.5590000Z</dcterms:created>
  <dcterms:modified xsi:type="dcterms:W3CDTF">2026-08-15T03:39:29.5590000Z</dcterms:modified>
</coreProperties>
</file>